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</p:sldMasterIdLst>
  <p:notesMasterIdLst>
    <p:notesMasterId r:id="rId10"/>
  </p:notesMasterIdLst>
  <p:sldIdLst>
    <p:sldId id="264" r:id="rId2"/>
    <p:sldId id="1887" r:id="rId3"/>
    <p:sldId id="2016" r:id="rId4"/>
    <p:sldId id="2015" r:id="rId5"/>
    <p:sldId id="2057" r:id="rId6"/>
    <p:sldId id="2058" r:id="rId7"/>
    <p:sldId id="268" r:id="rId8"/>
    <p:sldId id="1816" r:id="rId9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4FAE2E"/>
    <a:srgbClr val="ED7D31"/>
    <a:srgbClr val="4A90E2"/>
    <a:srgbClr val="E24A4A"/>
    <a:srgbClr val="F5F5F5"/>
    <a:srgbClr val="70AD47"/>
    <a:srgbClr val="FFC000"/>
    <a:srgbClr val="FC22EC"/>
    <a:srgbClr val="003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40" autoAdjust="0"/>
    <p:restoredTop sz="94660"/>
  </p:normalViewPr>
  <p:slideViewPr>
    <p:cSldViewPr snapToGrid="0">
      <p:cViewPr>
        <p:scale>
          <a:sx n="72" d="100"/>
          <a:sy n="72" d="100"/>
        </p:scale>
        <p:origin x="300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4A912-7134-43E1-981A-50CA37BCA066}" type="datetimeFigureOut">
              <a:rPr lang="LID4096" smtClean="0"/>
              <a:t>06/05/2026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E3B43-47F2-4576-8F46-617EC74A57D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5171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ABC6E-8946-93B1-DA7F-D642A2FD0D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8" y="2638991"/>
            <a:ext cx="9127958" cy="1923484"/>
          </a:xfrm>
        </p:spPr>
        <p:txBody>
          <a:bodyPr anchor="b"/>
          <a:lstStyle>
            <a:lvl1pPr>
              <a:defRPr sz="6000" b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69D34-58C5-177A-5800-433B02088A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3348" y="4589464"/>
            <a:ext cx="8097386" cy="958408"/>
          </a:xfrm>
        </p:spPr>
        <p:txBody>
          <a:bodyPr/>
          <a:lstStyle>
            <a:lvl1pPr marL="0" indent="0">
              <a:buNone/>
              <a:defRPr sz="2400">
                <a:solidFill>
                  <a:srgbClr val="00305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Speaker(s)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65BEC-60E4-73E1-F5D5-F1AAB9D372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7360" y="7670780"/>
            <a:ext cx="2743200" cy="365125"/>
          </a:xfrm>
          <a:prstGeom prst="rect">
            <a:avLst/>
          </a:prstGeom>
        </p:spPr>
        <p:txBody>
          <a:bodyPr/>
          <a:lstStyle/>
          <a:p>
            <a:fld id="{3203B15E-653A-4B2F-9F5F-14E85920A64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9F11A-566E-F623-8262-9C4F0D43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580" y="747135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ABEA5-E68D-9FBD-6AF9-CA6F31BA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5720" y="7974133"/>
            <a:ext cx="2743200" cy="365125"/>
          </a:xfrm>
          <a:prstGeom prst="rect">
            <a:avLst/>
          </a:prstGeom>
        </p:spPr>
        <p:txBody>
          <a:bodyPr/>
          <a:lstStyle/>
          <a:p>
            <a:fld id="{1E909D46-20F9-4BDB-ADE5-B8144AAAE811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fik 4">
            <a:extLst>
              <a:ext uri="{FF2B5EF4-FFF2-40B4-BE49-F238E27FC236}">
                <a16:creationId xmlns:a16="http://schemas.microsoft.com/office/drawing/2014/main" id="{B153584F-B524-2DB6-BDBE-C54261AB86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/>
        </p:blipFill>
        <p:spPr>
          <a:xfrm>
            <a:off x="427427" y="679846"/>
            <a:ext cx="2623295" cy="1066655"/>
          </a:xfrm>
          <a:prstGeom prst="rect">
            <a:avLst/>
          </a:prstGeom>
          <a:ln w="0">
            <a:noFill/>
          </a:ln>
        </p:spPr>
      </p:pic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CEB32EEF-E7F9-ADD5-D92D-7C5294AC888D}"/>
              </a:ext>
            </a:extLst>
          </p:cNvPr>
          <p:cNvSpPr/>
          <p:nvPr userDrawn="1"/>
        </p:nvSpPr>
        <p:spPr>
          <a:xfrm>
            <a:off x="427427" y="1847300"/>
            <a:ext cx="2940120" cy="555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555A5B"/>
                </a:solidFill>
                <a:latin typeface="Open Sans"/>
                <a:ea typeface="DejaVu Sans"/>
              </a:rPr>
              <a:t>CENTER FOR SCALABLE DATA ANALYTICS AND ARTIFICIAL INTELLIGENCE</a:t>
            </a:r>
            <a:endParaRPr lang="en-US" sz="1100" b="0" strike="noStrike" spc="-1" dirty="0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C72B9D-5278-6516-9518-DA51D9757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6758" y="789305"/>
            <a:ext cx="2523494" cy="847735"/>
          </a:xfrm>
          <a:prstGeom prst="rect">
            <a:avLst/>
          </a:prstGeom>
        </p:spPr>
      </p:pic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B927DCA2-9D43-B401-9834-503B7B514DA3}"/>
              </a:ext>
            </a:extLst>
          </p:cNvPr>
          <p:cNvSpPr/>
          <p:nvPr userDrawn="1"/>
        </p:nvSpPr>
        <p:spPr>
          <a:xfrm>
            <a:off x="4287898" y="1843405"/>
            <a:ext cx="4095749" cy="4310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555A5B"/>
                </a:solidFill>
                <a:latin typeface="Open Sans"/>
                <a:ea typeface="DejaVu Sans"/>
              </a:rPr>
              <a:t>NATIONAL RESEARCH DATA MANAGEMENT INFRASTRUCTURE FOR MICROSCOPY AND BIOIMAGE ANALYSIS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D06673F-19A3-E34F-C2A2-69620B02B95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77391" y="867736"/>
            <a:ext cx="1112027" cy="847734"/>
          </a:xfrm>
          <a:prstGeom prst="rect">
            <a:avLst/>
          </a:prstGeom>
        </p:spPr>
      </p:pic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4AAB10B7-5390-2B3E-7CAD-AA25949C0826}"/>
              </a:ext>
            </a:extLst>
          </p:cNvPr>
          <p:cNvSpPr/>
          <p:nvPr userDrawn="1"/>
        </p:nvSpPr>
        <p:spPr>
          <a:xfrm>
            <a:off x="9284322" y="1843405"/>
            <a:ext cx="1373509" cy="4310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en-US" sz="1100" b="0" strike="noStrike" spc="-1" dirty="0">
                <a:solidFill>
                  <a:srgbClr val="555A5B"/>
                </a:solidFill>
                <a:latin typeface="Open Sans"/>
                <a:ea typeface="DejaVu Sans"/>
              </a:rPr>
              <a:t>GLOBAL BIOIMAGE ANALYST’S SOCIETY</a:t>
            </a:r>
          </a:p>
        </p:txBody>
      </p:sp>
    </p:spTree>
    <p:extLst>
      <p:ext uri="{BB962C8B-B14F-4D97-AF65-F5344CB8AC3E}">
        <p14:creationId xmlns:p14="http://schemas.microsoft.com/office/powerpoint/2010/main" val="1658072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FE1DF-24C7-8F31-40CA-7DDD56AB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20" y="365125"/>
            <a:ext cx="10509685" cy="7576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74BDC-A125-2F9E-1864-7A4C9546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20" y="1435261"/>
            <a:ext cx="11075880" cy="4499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6A75-A8B3-C3E1-1DF0-49E36B91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7360" y="7670780"/>
            <a:ext cx="2743200" cy="365125"/>
          </a:xfrm>
          <a:prstGeom prst="rect">
            <a:avLst/>
          </a:prstGeom>
        </p:spPr>
        <p:txBody>
          <a:bodyPr/>
          <a:lstStyle/>
          <a:p>
            <a:fld id="{3203B15E-653A-4B2F-9F5F-14E85920A64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5E583-EEFA-DE14-BECC-D6DC592B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580" y="747135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5FC2C-00F2-0019-9A0E-EE02075C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5720" y="7974133"/>
            <a:ext cx="2743200" cy="365125"/>
          </a:xfrm>
          <a:prstGeom prst="rect">
            <a:avLst/>
          </a:prstGeom>
        </p:spPr>
        <p:txBody>
          <a:bodyPr/>
          <a:lstStyle/>
          <a:p>
            <a:fld id="{1E909D46-20F9-4BDB-ADE5-B8144AAA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47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FE1DF-24C7-8F31-40CA-7DDD56AB2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74BDC-A125-2F9E-1864-7A4C9546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20" y="1825625"/>
            <a:ext cx="5351603" cy="4105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6A75-A8B3-C3E1-1DF0-49E36B91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7360" y="7670780"/>
            <a:ext cx="2743200" cy="365125"/>
          </a:xfrm>
          <a:prstGeom prst="rect">
            <a:avLst/>
          </a:prstGeom>
        </p:spPr>
        <p:txBody>
          <a:bodyPr/>
          <a:lstStyle/>
          <a:p>
            <a:fld id="{3203B15E-653A-4B2F-9F5F-14E85920A64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5E583-EEFA-DE14-BECC-D6DC592B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580" y="747135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5FC2C-00F2-0019-9A0E-EE02075C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5720" y="7974133"/>
            <a:ext cx="2743200" cy="365125"/>
          </a:xfrm>
          <a:prstGeom prst="rect">
            <a:avLst/>
          </a:prstGeom>
        </p:spPr>
        <p:txBody>
          <a:bodyPr/>
          <a:lstStyle/>
          <a:p>
            <a:fld id="{1E909D46-20F9-4BDB-ADE5-B8144AAAE81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508932-E1ED-73ED-A1E2-C073DD72DC0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49743" y="1825625"/>
            <a:ext cx="5351603" cy="410565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645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FE1DF-24C7-8F31-40CA-7DDD56AB2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74BDC-A125-2F9E-1864-7A4C9546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21" y="1825625"/>
            <a:ext cx="3482639" cy="410565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6A75-A8B3-C3E1-1DF0-49E36B91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7360" y="7670780"/>
            <a:ext cx="2743200" cy="365125"/>
          </a:xfrm>
          <a:prstGeom prst="rect">
            <a:avLst/>
          </a:prstGeom>
        </p:spPr>
        <p:txBody>
          <a:bodyPr/>
          <a:lstStyle/>
          <a:p>
            <a:fld id="{3203B15E-653A-4B2F-9F5F-14E85920A64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5E583-EEFA-DE14-BECC-D6DC592B9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580" y="747135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5FC2C-00F2-0019-9A0E-EE02075C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5720" y="7974133"/>
            <a:ext cx="2743200" cy="365125"/>
          </a:xfrm>
          <a:prstGeom prst="rect">
            <a:avLst/>
          </a:prstGeom>
        </p:spPr>
        <p:txBody>
          <a:bodyPr/>
          <a:lstStyle/>
          <a:p>
            <a:fld id="{1E909D46-20F9-4BDB-ADE5-B8144AAAE81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508932-E1ED-73ED-A1E2-C073DD72DC0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89139" y="1825625"/>
            <a:ext cx="3482639" cy="410565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8F53D0E-1635-367F-8509-49B0189A854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500357" y="1825625"/>
            <a:ext cx="3482639" cy="410565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983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891302" y="371735"/>
            <a:ext cx="10267951" cy="81228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5566" y="1184015"/>
            <a:ext cx="10644901" cy="4550036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3pPr>
              <a:spcBef>
                <a:spcPts val="1200"/>
              </a:spcBef>
              <a:defRPr/>
            </a:lvl3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9218694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enutzerdefiniertes Layou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"/>
          <p:cNvSpPr/>
          <p:nvPr/>
        </p:nvSpPr>
        <p:spPr>
          <a:xfrm>
            <a:off x="92482" y="99962"/>
            <a:ext cx="12007036" cy="929276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tIns="45720" bIns="45720" anchor="ctr"/>
          <a:lstStyle/>
          <a:p>
            <a:pPr algn="l" defTabSz="822960">
              <a:defRPr b="0">
                <a:solidFill>
                  <a:srgbClr val="4C82A6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 sz="900"/>
          </a:p>
        </p:txBody>
      </p:sp>
      <p:grpSp>
        <p:nvGrpSpPr>
          <p:cNvPr id="24" name="Group"/>
          <p:cNvGrpSpPr/>
          <p:nvPr/>
        </p:nvGrpSpPr>
        <p:grpSpPr>
          <a:xfrm>
            <a:off x="9241288" y="6245450"/>
            <a:ext cx="2815325" cy="532579"/>
            <a:chOff x="18211800" y="0"/>
            <a:chExt cx="5630647" cy="1065157"/>
          </a:xfrm>
        </p:grpSpPr>
        <p:pic>
          <p:nvPicPr>
            <p:cNvPr id="22" name="Grafik 8" descr="Grafik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2099" y="0"/>
              <a:ext cx="2340348" cy="10651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" name="Grafik 9" descr="Grafik 9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8211800" y="95817"/>
              <a:ext cx="3004167" cy="8736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5" name="Rectangle"/>
          <p:cNvSpPr/>
          <p:nvPr/>
        </p:nvSpPr>
        <p:spPr>
          <a:xfrm>
            <a:off x="-49651" y="6021857"/>
            <a:ext cx="12291301" cy="129294"/>
          </a:xfrm>
          <a:prstGeom prst="rect">
            <a:avLst/>
          </a:prstGeom>
          <a:gradFill>
            <a:gsLst>
              <a:gs pos="0">
                <a:srgbClr val="2E358C"/>
              </a:gs>
              <a:gs pos="50000">
                <a:srgbClr val="3D8AAC"/>
              </a:gs>
              <a:gs pos="100000">
                <a:srgbClr val="98C356"/>
              </a:gs>
            </a:gsLst>
          </a:gradFill>
          <a:ln w="12700">
            <a:miter lim="400000"/>
          </a:ln>
        </p:spPr>
        <p:txBody>
          <a:bodyPr tIns="45720" bIns="45720" anchor="ctr"/>
          <a:lstStyle/>
          <a:p>
            <a:pPr algn="l" defTabSz="822960">
              <a:defRPr b="0">
                <a:solidFill>
                  <a:srgbClr val="00305E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endParaRPr sz="900"/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46179" y="6378083"/>
            <a:ext cx="300817" cy="246222"/>
          </a:xfrm>
          <a:prstGeom prst="rect">
            <a:avLst/>
          </a:prstGeom>
        </p:spPr>
        <p:txBody>
          <a:bodyPr wrap="square"/>
          <a:lstStyle>
            <a:lvl1pPr algn="ctr">
              <a:defRPr sz="1600"/>
            </a:lvl1pPr>
          </a:lstStyle>
          <a:p>
            <a:pPr algn="ctr"/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7" name="unknown.pdf" descr="unknown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3282" y="254362"/>
            <a:ext cx="1644397" cy="620477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6348139-121F-4756-83C5-F3F13C83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974" y="225577"/>
            <a:ext cx="10201531" cy="673325"/>
          </a:xfrm>
        </p:spPr>
        <p:txBody>
          <a:bodyPr>
            <a:normAutofit/>
          </a:bodyPr>
          <a:lstStyle>
            <a:lvl1pPr>
              <a:defRPr kumimoji="0" lang="en-US" sz="4300" b="0" i="0" u="none" strike="noStrike" cap="none" spc="0" normalizeH="0" baseline="0" dirty="0">
                <a:ln>
                  <a:noFill/>
                </a:ln>
                <a:solidFill>
                  <a:srgbClr val="0F305A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BD2E0-2CCD-4C29-8B63-0ABD48CA4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4313" y="1171445"/>
            <a:ext cx="11885205" cy="4756114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250686-1DA4-4721-B64D-08B5EE757A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9322" y="6301066"/>
            <a:ext cx="2065229" cy="461665"/>
            <a:chOff x="8870141" y="6229208"/>
            <a:chExt cx="2706721" cy="60506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C6909FD-FFD4-44EF-A057-7749A6D0D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backgroundMark x1="75591" y1="30769" x2="75591" y2="3076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70141" y="6255003"/>
              <a:ext cx="543396" cy="50060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C97E7D3-C6FE-4949-BDCD-B3ECCFC83E82}"/>
                </a:ext>
              </a:extLst>
            </p:cNvPr>
            <p:cNvSpPr txBox="1"/>
            <p:nvPr/>
          </p:nvSpPr>
          <p:spPr>
            <a:xfrm>
              <a:off x="9326183" y="6229208"/>
              <a:ext cx="2250679" cy="605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@haesleinhuepf</a:t>
              </a:r>
            </a:p>
            <a:p>
              <a:pPr algn="l"/>
              <a:r>
                <a:rPr kumimoji="0" lang="en-US" sz="1200" b="0" i="0" u="none" strike="noStrike" cap="none" spc="0" normalizeH="0" baseline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Helvetica Neue"/>
                  <a:sym typeface="Helvetica Neue"/>
                </a:rPr>
                <a:t>@PoLDresden</a:t>
              </a:r>
              <a:endParaRPr kumimoji="0" lang="en-GB" sz="1200" b="0" i="0" u="none" strike="noStrike" cap="none" spc="0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Helvetica Neue"/>
                <a:sym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93418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7">
            <a:extLst>
              <a:ext uri="{FF2B5EF4-FFF2-40B4-BE49-F238E27FC236}">
                <a16:creationId xmlns:a16="http://schemas.microsoft.com/office/drawing/2014/main" id="{32E04848-2267-62CA-5466-9281B16022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/>
        </p:blipFill>
        <p:spPr>
          <a:xfrm>
            <a:off x="10375560" y="6077520"/>
            <a:ext cx="1814400" cy="757800"/>
          </a:xfrm>
          <a:prstGeom prst="rect">
            <a:avLst/>
          </a:prstGeom>
          <a:ln w="0">
            <a:noFill/>
          </a:ln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926201-3F7E-1509-D0DF-F0F1CFDB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20" y="365125"/>
            <a:ext cx="1060571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B4266-562E-96B0-5028-47A784750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920" y="1825625"/>
            <a:ext cx="11075880" cy="4108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feld 3">
            <a:extLst>
              <a:ext uri="{FF2B5EF4-FFF2-40B4-BE49-F238E27FC236}">
                <a16:creationId xmlns:a16="http://schemas.microsoft.com/office/drawing/2014/main" id="{E88AB7C5-4E60-EBA9-10E2-3D4AA46069AC}"/>
              </a:ext>
            </a:extLst>
          </p:cNvPr>
          <p:cNvSpPr/>
          <p:nvPr userDrawn="1"/>
        </p:nvSpPr>
        <p:spPr>
          <a:xfrm>
            <a:off x="1855679" y="6076641"/>
            <a:ext cx="1614451" cy="7694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000" b="0" strike="noStrike" spc="-1" dirty="0">
                <a:solidFill>
                  <a:srgbClr val="727879"/>
                </a:solidFill>
                <a:latin typeface="Open Sans"/>
                <a:ea typeface="DejaVu Sans"/>
              </a:rPr>
              <a:t>LLMs </a:t>
            </a:r>
            <a:r>
              <a:rPr lang="de-DE" sz="1000" b="0" strike="noStrike" spc="-1" dirty="0" err="1">
                <a:solidFill>
                  <a:srgbClr val="727879"/>
                </a:solidFill>
                <a:latin typeface="Open Sans"/>
                <a:ea typeface="DejaVu Sans"/>
              </a:rPr>
              <a:t>impact</a:t>
            </a:r>
            <a:r>
              <a:rPr lang="de-DE" sz="1000" b="0" strike="noStrike" spc="-1" dirty="0">
                <a:solidFill>
                  <a:srgbClr val="727879"/>
                </a:solidFill>
                <a:latin typeface="Open Sans"/>
                <a:ea typeface="DejaVu Sans"/>
              </a:rPr>
              <a:t> BIDS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000" b="0" strike="noStrike" spc="-1" dirty="0">
                <a:solidFill>
                  <a:srgbClr val="727879"/>
                </a:solidFill>
                <a:latin typeface="Open Sans"/>
                <a:ea typeface="DejaVu Sans"/>
              </a:rPr>
              <a:t>Pasteur BIA Course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000" b="0" strike="noStrike" spc="-1" dirty="0">
                <a:solidFill>
                  <a:srgbClr val="727879"/>
                </a:solidFill>
                <a:latin typeface="Open Sans"/>
                <a:ea typeface="DejaVu Sans"/>
              </a:rPr>
              <a:t>Robert Haase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000" b="0" strike="noStrike" spc="-1" dirty="0">
                <a:solidFill>
                  <a:srgbClr val="727879"/>
                </a:solidFill>
                <a:latin typeface="Open Sans"/>
              </a:rPr>
              <a:t>@haesleinhuepf</a:t>
            </a: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000" b="0" strike="noStrike" spc="-1" dirty="0">
                <a:solidFill>
                  <a:srgbClr val="727879"/>
                </a:solidFill>
                <a:latin typeface="Open Sans"/>
              </a:rPr>
              <a:t>June 5th 2026</a:t>
            </a:r>
          </a:p>
        </p:txBody>
      </p:sp>
      <p:sp>
        <p:nvSpPr>
          <p:cNvPr id="8" name="Gerade Verbindung 14">
            <a:extLst>
              <a:ext uri="{FF2B5EF4-FFF2-40B4-BE49-F238E27FC236}">
                <a16:creationId xmlns:a16="http://schemas.microsoft.com/office/drawing/2014/main" id="{F7EAF5E9-9E46-5690-7E71-BB5AE79E3657}"/>
              </a:ext>
            </a:extLst>
          </p:cNvPr>
          <p:cNvSpPr/>
          <p:nvPr userDrawn="1"/>
        </p:nvSpPr>
        <p:spPr>
          <a:xfrm>
            <a:off x="0" y="6063120"/>
            <a:ext cx="12191760" cy="36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0" rIns="90000" bIns="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  <a:ea typeface="DejaVu Sans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AA27115-E516-0DDA-CA24-0FCA1343EDF2}"/>
              </a:ext>
            </a:extLst>
          </p:cNvPr>
          <p:cNvSpPr/>
          <p:nvPr userDrawn="1"/>
        </p:nvSpPr>
        <p:spPr>
          <a:xfrm>
            <a:off x="8177490" y="6221880"/>
            <a:ext cx="827640" cy="4616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br>
              <a:rPr sz="1000" dirty="0"/>
            </a:br>
            <a:fld id="{99E337C0-7447-4D1C-BF36-95B1EF0F9DAB}" type="slidenum">
              <a:rPr lang="de-DE" sz="1000" b="0" strike="noStrike" spc="-1" smtClean="0">
                <a:solidFill>
                  <a:srgbClr val="727879"/>
                </a:solidFill>
                <a:latin typeface="Open Sans"/>
                <a:ea typeface="Open Sans"/>
              </a:rPr>
              <a:t>‹#›</a:t>
            </a:fld>
            <a:endParaRPr lang="en-US" sz="1000" b="0" strike="noStrike" spc="-1" dirty="0">
              <a:solidFill>
                <a:srgbClr val="000000"/>
              </a:solidFill>
              <a:latin typeface="Calibri"/>
            </a:endParaRPr>
          </a:p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" name="Grafik 10">
            <a:extLst>
              <a:ext uri="{FF2B5EF4-FFF2-40B4-BE49-F238E27FC236}">
                <a16:creationId xmlns:a16="http://schemas.microsoft.com/office/drawing/2014/main" id="{DF28B6C6-C1E1-F47A-42E5-67B13618D6B6}"/>
              </a:ext>
            </a:extLst>
          </p:cNvPr>
          <p:cNvPicPr/>
          <p:nvPr userDrawn="1"/>
        </p:nvPicPr>
        <p:blipFill>
          <a:blip r:embed="rId9">
            <a:alphaModFix amt="80000"/>
          </a:blip>
          <a:stretch/>
        </p:blipFill>
        <p:spPr>
          <a:xfrm rot="11023800">
            <a:off x="10602115" y="-1099080"/>
            <a:ext cx="4838760" cy="4557960"/>
          </a:xfrm>
          <a:prstGeom prst="rect">
            <a:avLst/>
          </a:prstGeom>
          <a:ln w="0">
            <a:noFill/>
          </a:ln>
        </p:spPr>
      </p:pic>
      <p:pic>
        <p:nvPicPr>
          <p:cNvPr id="13" name="Grafik 21">
            <a:extLst>
              <a:ext uri="{FF2B5EF4-FFF2-40B4-BE49-F238E27FC236}">
                <a16:creationId xmlns:a16="http://schemas.microsoft.com/office/drawing/2014/main" id="{25139AC6-C2D6-FE54-4F9C-A34E514282FB}"/>
              </a:ext>
            </a:extLst>
          </p:cNvPr>
          <p:cNvPicPr/>
          <p:nvPr userDrawn="1"/>
        </p:nvPicPr>
        <p:blipFill>
          <a:blip r:embed="rId10"/>
          <a:stretch/>
        </p:blipFill>
        <p:spPr>
          <a:xfrm>
            <a:off x="277920" y="6150960"/>
            <a:ext cx="1478880" cy="600840"/>
          </a:xfrm>
          <a:prstGeom prst="rect">
            <a:avLst/>
          </a:prstGeom>
          <a:ln w="0">
            <a:noFill/>
          </a:ln>
        </p:spPr>
      </p:pic>
      <p:pic>
        <p:nvPicPr>
          <p:cNvPr id="14" name="Grafik 4">
            <a:extLst>
              <a:ext uri="{FF2B5EF4-FFF2-40B4-BE49-F238E27FC236}">
                <a16:creationId xmlns:a16="http://schemas.microsoft.com/office/drawing/2014/main" id="{FC6A45BB-BB7A-BBA8-7B3E-52CE94EA5836}"/>
              </a:ext>
            </a:extLst>
          </p:cNvPr>
          <p:cNvPicPr/>
          <p:nvPr userDrawn="1"/>
        </p:nvPicPr>
        <p:blipFill>
          <a:blip r:embed="rId11"/>
          <a:stretch/>
        </p:blipFill>
        <p:spPr>
          <a:xfrm>
            <a:off x="-159840" y="-198000"/>
            <a:ext cx="1204920" cy="1625760"/>
          </a:xfrm>
          <a:prstGeom prst="rect">
            <a:avLst/>
          </a:prstGeom>
          <a:ln w="0">
            <a:noFill/>
          </a:ln>
        </p:spPr>
      </p:pic>
      <p:pic>
        <p:nvPicPr>
          <p:cNvPr id="15" name="Grafik 5">
            <a:extLst>
              <a:ext uri="{FF2B5EF4-FFF2-40B4-BE49-F238E27FC236}">
                <a16:creationId xmlns:a16="http://schemas.microsoft.com/office/drawing/2014/main" id="{0268E671-5E31-7536-8FF6-EA123A5E8E58}"/>
              </a:ext>
            </a:extLst>
          </p:cNvPr>
          <p:cNvPicPr/>
          <p:nvPr userDrawn="1"/>
        </p:nvPicPr>
        <p:blipFill>
          <a:blip r:embed="rId12"/>
          <a:stretch/>
        </p:blipFill>
        <p:spPr>
          <a:xfrm>
            <a:off x="10885435" y="32040"/>
            <a:ext cx="2710800" cy="2680200"/>
          </a:xfrm>
          <a:prstGeom prst="rect">
            <a:avLst/>
          </a:prstGeom>
          <a:ln w="0">
            <a:noFill/>
          </a:ln>
        </p:spPr>
      </p:pic>
      <p:sp>
        <p:nvSpPr>
          <p:cNvPr id="16" name="Rechteck 12">
            <a:extLst>
              <a:ext uri="{FF2B5EF4-FFF2-40B4-BE49-F238E27FC236}">
                <a16:creationId xmlns:a16="http://schemas.microsoft.com/office/drawing/2014/main" id="{FFFAF923-D4FA-47C4-2D9A-0C40C99E8E01}"/>
              </a:ext>
            </a:extLst>
          </p:cNvPr>
          <p:cNvSpPr/>
          <p:nvPr userDrawn="1"/>
        </p:nvSpPr>
        <p:spPr>
          <a:xfrm>
            <a:off x="0" y="980640"/>
            <a:ext cx="12189960" cy="587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  <a:ea typeface="DejaVu Sans"/>
            </a:endParaRPr>
          </a:p>
        </p:txBody>
      </p:sp>
      <p:pic>
        <p:nvPicPr>
          <p:cNvPr id="4" name="Grafik 14">
            <a:extLst>
              <a:ext uri="{FF2B5EF4-FFF2-40B4-BE49-F238E27FC236}">
                <a16:creationId xmlns:a16="http://schemas.microsoft.com/office/drawing/2014/main" id="{267AF373-8173-AB1B-E29A-2DCDD67FDA4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900" y="6102980"/>
            <a:ext cx="1562942" cy="70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77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9" r:id="rId2"/>
    <p:sldLayoutId id="2147483691" r:id="rId3"/>
    <p:sldLayoutId id="2147483692" r:id="rId4"/>
    <p:sldLayoutId id="2147483693" r:id="rId5"/>
    <p:sldLayoutId id="214748369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rgbClr val="00305E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305E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00305E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00305E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00305E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00305E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hyperlink" Target="https://creativecommons.org/licenses/by/4.0/deed.en.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5281/zenodo.20527125" TargetMode="External"/><Relationship Id="rId5" Type="http://schemas.openxmlformats.org/officeDocument/2006/relationships/image" Target="../media/image16.jpeg"/><Relationship Id="rId4" Type="http://schemas.openxmlformats.org/officeDocument/2006/relationships/image" Target="../media/image15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i.org/10.5281/zenodo.20527125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s://image.sc/" TargetMode="External"/><Relationship Id="rId2" Type="http://schemas.openxmlformats.org/officeDocument/2006/relationships/hyperlink" Target="https://nfdi4bioimage.de/help-desk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lobias.org/about-globias/globias-association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7ADB-B651-0286-3128-E1C076022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5" y="2665980"/>
            <a:ext cx="8244441" cy="1923484"/>
          </a:xfrm>
        </p:spPr>
        <p:txBody>
          <a:bodyPr>
            <a:noAutofit/>
          </a:bodyPr>
          <a:lstStyle/>
          <a:p>
            <a:r>
              <a:rPr lang="en-GB" sz="3600" dirty="0"/>
              <a:t>How Generative AI impacts [</a:t>
            </a:r>
            <a:r>
              <a:rPr lang="en-GB" sz="3600" dirty="0" err="1"/>
              <a:t>BioImage</a:t>
            </a:r>
            <a:r>
              <a:rPr lang="en-GB" sz="3600" dirty="0"/>
              <a:t>] Data Science</a:t>
            </a:r>
            <a:endParaRPr lang="en-GB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73E7F-ECBB-487E-A15D-CBF02EE01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FAE2E"/>
                </a:solidFill>
              </a:rPr>
              <a:t>Robert Haase</a:t>
            </a:r>
            <a:endParaRPr lang="LID4096" dirty="0">
              <a:solidFill>
                <a:srgbClr val="4FAE2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22677-115C-334B-D53A-BE3F9D4E12A8}"/>
              </a:ext>
            </a:extLst>
          </p:cNvPr>
          <p:cNvSpPr txBox="1"/>
          <p:nvPr/>
        </p:nvSpPr>
        <p:spPr>
          <a:xfrm>
            <a:off x="34001" y="5757742"/>
            <a:ext cx="87237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ea typeface="Open Sans ExtraBold" panose="020B0606030504020204" pitchFamily="34" charset="0"/>
                <a:cs typeface="Open Sans ExtraBold" panose="020B0606030504020204" pitchFamily="34" charset="0"/>
              </a:rPr>
              <a:t>These slides, excluding logos, can be reused under the terms of the </a:t>
            </a:r>
            <a:r>
              <a:rPr lang="en-US" sz="1400" dirty="0">
                <a:solidFill>
                  <a:schemeClr val="tx1"/>
                </a:solidFill>
                <a:ea typeface="Open Sans ExtraBold" panose="020B0606030504020204" pitchFamily="34" charset="0"/>
                <a:cs typeface="Open Sans ExtraBold" panose="020B0606030504020204" pitchFamily="34" charset="0"/>
                <a:hlinkClick r:id="rId2"/>
              </a:rPr>
              <a:t>CC-BY 4.0</a:t>
            </a:r>
            <a:r>
              <a:rPr lang="en-US" sz="1400" dirty="0">
                <a:solidFill>
                  <a:schemeClr val="tx1"/>
                </a:solidFill>
                <a:ea typeface="Open Sans ExtraBold" panose="020B0606030504020204" pitchFamily="34" charset="0"/>
                <a:cs typeface="Open Sans ExtraBold" panose="020B0606030504020204" pitchFamily="34" charset="0"/>
              </a:rPr>
              <a:t> license unless mentioned otherwise.</a:t>
            </a:r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9E36535-E86F-BF92-D6D6-BA5C0EF41C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423" y="6133154"/>
            <a:ext cx="1655491" cy="646469"/>
          </a:xfrm>
          <a:prstGeom prst="rect">
            <a:avLst/>
          </a:prstGeom>
        </p:spPr>
      </p:pic>
      <p:pic>
        <p:nvPicPr>
          <p:cNvPr id="17" name="Grafik 5">
            <a:extLst>
              <a:ext uri="{FF2B5EF4-FFF2-40B4-BE49-F238E27FC236}">
                <a16:creationId xmlns:a16="http://schemas.microsoft.com/office/drawing/2014/main" id="{94FDBDD6-DD96-B7F4-CCEB-F8FE2FCF54E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"/>
          <a:stretch/>
        </p:blipFill>
        <p:spPr>
          <a:xfrm>
            <a:off x="5962114" y="6108600"/>
            <a:ext cx="497234" cy="682272"/>
          </a:xfrm>
          <a:prstGeom prst="rect">
            <a:avLst/>
          </a:prstGeom>
        </p:spPr>
      </p:pic>
      <p:pic>
        <p:nvPicPr>
          <p:cNvPr id="18" name="Grafik 10">
            <a:extLst>
              <a:ext uri="{FF2B5EF4-FFF2-40B4-BE49-F238E27FC236}">
                <a16:creationId xmlns:a16="http://schemas.microsoft.com/office/drawing/2014/main" id="{F0EBE35F-6461-6E62-5EDF-747C160C93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870" y="6277354"/>
            <a:ext cx="1901231" cy="4900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ED6B45-53D5-7FE1-DE0E-60BA8BA20655}"/>
              </a:ext>
            </a:extLst>
          </p:cNvPr>
          <p:cNvSpPr txBox="1"/>
          <p:nvPr/>
        </p:nvSpPr>
        <p:spPr>
          <a:xfrm>
            <a:off x="3484880" y="6065520"/>
            <a:ext cx="822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Funded by</a:t>
            </a:r>
            <a:endParaRPr lang="LID4096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C734D-58F2-4E98-F164-377F04C620A0}"/>
              </a:ext>
            </a:extLst>
          </p:cNvPr>
          <p:cNvSpPr txBox="1"/>
          <p:nvPr/>
        </p:nvSpPr>
        <p:spPr>
          <a:xfrm>
            <a:off x="8867720" y="5757743"/>
            <a:ext cx="3290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6"/>
              </a:rPr>
              <a:t>https://doi.org/10.5281/zenodo.20527125</a:t>
            </a:r>
            <a:r>
              <a:rPr lang="en-US" sz="1400" dirty="0"/>
              <a:t> </a:t>
            </a:r>
            <a:endParaRPr lang="LID4096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F735F7-F4B9-4965-FD6F-6878ED098D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9297" y="2665979"/>
            <a:ext cx="3139057" cy="315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643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B763F-C639-C9EB-1A3B-BC6C2E9D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1381-A034-C169-2696-708428976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Quiz: </a:t>
            </a:r>
            <a:r>
              <a:rPr lang="en-GB" dirty="0" err="1"/>
              <a:t>Dealing</a:t>
            </a:r>
            <a:r>
              <a:rPr lang="en-GB" dirty="0"/>
              <a:t> </a:t>
            </a:r>
            <a:r>
              <a:rPr lang="en-GB" dirty="0" err="1"/>
              <a:t>with</a:t>
            </a:r>
            <a:r>
              <a:rPr lang="en-GB" dirty="0"/>
              <a:t> AI</a:t>
            </a:r>
            <a:endParaRPr lang="LID4096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F34F45-103E-6905-E3F7-52C9D80875D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5566" y="1184015"/>
            <a:ext cx="10644901" cy="1086701"/>
          </a:xfrm>
        </p:spPr>
        <p:txBody>
          <a:bodyPr/>
          <a:lstStyle/>
          <a:p>
            <a:r>
              <a:rPr lang="en-GB" sz="3200" dirty="0"/>
              <a:t>How often do you use AI (ChatGPT, etc)?</a:t>
            </a:r>
            <a:endParaRPr lang="LID4096" sz="3200" dirty="0"/>
          </a:p>
        </p:txBody>
      </p:sp>
      <p:pic>
        <p:nvPicPr>
          <p:cNvPr id="6" name="Imagem 27">
            <a:extLst>
              <a:ext uri="{FF2B5EF4-FFF2-40B4-BE49-F238E27FC236}">
                <a16:creationId xmlns:a16="http://schemas.microsoft.com/office/drawing/2014/main" id="{F44A86DF-836C-25EF-575C-E1EC9F06A3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513" y="4583239"/>
            <a:ext cx="1479108" cy="1479108"/>
          </a:xfrm>
          <a:prstGeom prst="rect">
            <a:avLst/>
          </a:prstGeom>
        </p:spPr>
      </p:pic>
      <p:pic>
        <p:nvPicPr>
          <p:cNvPr id="7" name="Imagem 28">
            <a:extLst>
              <a:ext uri="{FF2B5EF4-FFF2-40B4-BE49-F238E27FC236}">
                <a16:creationId xmlns:a16="http://schemas.microsoft.com/office/drawing/2014/main" id="{766E748A-1043-D9C4-3B8C-4E10E43731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646" y="4564242"/>
            <a:ext cx="1479108" cy="1479108"/>
          </a:xfrm>
          <a:prstGeom prst="rect">
            <a:avLst/>
          </a:prstGeom>
        </p:spPr>
      </p:pic>
      <p:pic>
        <p:nvPicPr>
          <p:cNvPr id="8" name="Imagem 30">
            <a:extLst>
              <a:ext uri="{FF2B5EF4-FFF2-40B4-BE49-F238E27FC236}">
                <a16:creationId xmlns:a16="http://schemas.microsoft.com/office/drawing/2014/main" id="{40B78BF5-FBD9-A709-1AFE-E57A066277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340" y="4564242"/>
            <a:ext cx="1479108" cy="1479108"/>
          </a:xfrm>
          <a:prstGeom prst="rect">
            <a:avLst/>
          </a:prstGeom>
        </p:spPr>
      </p:pic>
      <p:pic>
        <p:nvPicPr>
          <p:cNvPr id="9" name="Imagem 29">
            <a:extLst>
              <a:ext uri="{FF2B5EF4-FFF2-40B4-BE49-F238E27FC236}">
                <a16:creationId xmlns:a16="http://schemas.microsoft.com/office/drawing/2014/main" id="{5A32B76B-9F16-18CD-B14A-B6B4E5D5C3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241" y="4583239"/>
            <a:ext cx="1479108" cy="14791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2DE5A8-2B9C-6EF5-042F-7AF932240B2D}"/>
              </a:ext>
            </a:extLst>
          </p:cNvPr>
          <p:cNvSpPr txBox="1"/>
          <p:nvPr/>
        </p:nvSpPr>
        <p:spPr>
          <a:xfrm>
            <a:off x="891302" y="3595077"/>
            <a:ext cx="2383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&lt; 1x </a:t>
            </a:r>
            <a:r>
              <a:rPr lang="en-GB" sz="2800" dirty="0" err="1"/>
              <a:t>per week</a:t>
            </a:r>
            <a:endParaRPr lang="LID4096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04113-B58B-5A8C-0E8E-3CFD77DB31F7}"/>
              </a:ext>
            </a:extLst>
          </p:cNvPr>
          <p:cNvSpPr txBox="1"/>
          <p:nvPr/>
        </p:nvSpPr>
        <p:spPr>
          <a:xfrm>
            <a:off x="3935395" y="3595077"/>
            <a:ext cx="2383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approx. 1x per day</a:t>
            </a:r>
            <a:endParaRPr lang="LID4096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509F1-F9BA-3B35-292A-7DC5DD15AD4A}"/>
              </a:ext>
            </a:extLst>
          </p:cNvPr>
          <p:cNvSpPr txBox="1"/>
          <p:nvPr/>
        </p:nvSpPr>
        <p:spPr>
          <a:xfrm>
            <a:off x="6564528" y="3595077"/>
            <a:ext cx="23833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err="1"/>
              <a:t>Several times</a:t>
            </a:r>
            <a:r>
              <a:rPr lang="en-GB" sz="2800" dirty="0"/>
              <a:t> per day</a:t>
            </a:r>
            <a:endParaRPr lang="LID4096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55C0B5-9A0E-BD98-0861-A409E4AC180C}"/>
              </a:ext>
            </a:extLst>
          </p:cNvPr>
          <p:cNvSpPr txBox="1"/>
          <p:nvPr/>
        </p:nvSpPr>
        <p:spPr>
          <a:xfrm>
            <a:off x="9137123" y="3583069"/>
            <a:ext cx="2383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err="1"/>
              <a:t>Constantly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835625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AEC3-C6C5-0FB6-C2A7-0DFF09C56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Bio-Image Analysis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49030-C962-61B9-31E7-3FF1EF7B5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My job …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A3B4B-7145-44CF-EFD8-A2C579207D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13" b="32769"/>
          <a:stretch/>
        </p:blipFill>
        <p:spPr>
          <a:xfrm>
            <a:off x="3037398" y="2228850"/>
            <a:ext cx="7073146" cy="254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88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D0E8-DFF1-D270-B962-E61B72670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Bio-Image Analysis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8CD23-EA49-F10C-5113-7357C3EFF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job is changing, since we have ChatGPT</a:t>
            </a:r>
          </a:p>
          <a:p>
            <a:endParaRPr lang="en-US" dirty="0"/>
          </a:p>
          <a:p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2AAAC2-EE7F-5EC0-0EA1-D74E4E4EC4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231" b="2905"/>
          <a:stretch/>
        </p:blipFill>
        <p:spPr>
          <a:xfrm>
            <a:off x="3037398" y="4770618"/>
            <a:ext cx="7073146" cy="1275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A3D639-86D8-B387-54B6-7462383C94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2769"/>
          <a:stretch/>
        </p:blipFill>
        <p:spPr>
          <a:xfrm>
            <a:off x="3037398" y="1899470"/>
            <a:ext cx="7073146" cy="28711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826970-E11D-B0A0-84BC-649DEC60835C}"/>
              </a:ext>
            </a:extLst>
          </p:cNvPr>
          <p:cNvSpPr txBox="1"/>
          <p:nvPr/>
        </p:nvSpPr>
        <p:spPr>
          <a:xfrm>
            <a:off x="130288" y="2529033"/>
            <a:ext cx="2782956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Prompt: </a:t>
            </a:r>
            <a:br>
              <a:rPr lang="en-US" sz="2400" dirty="0"/>
            </a:br>
            <a:r>
              <a:rPr lang="en-US" sz="2400" dirty="0"/>
              <a:t>“Please segment the nuclei in the blue channel of the image”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F25F1F-9C89-A3E6-BFA5-54E856A43BDA}"/>
              </a:ext>
            </a:extLst>
          </p:cNvPr>
          <p:cNvCxnSpPr>
            <a:cxnSpLocks/>
          </p:cNvCxnSpPr>
          <p:nvPr/>
        </p:nvCxnSpPr>
        <p:spPr>
          <a:xfrm>
            <a:off x="4182386" y="5661163"/>
            <a:ext cx="495825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47E1F36-990B-192C-F414-12C235EE5C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1" t="1256" r="5504" b="3167"/>
          <a:stretch/>
        </p:blipFill>
        <p:spPr>
          <a:xfrm>
            <a:off x="9140643" y="1435261"/>
            <a:ext cx="2921069" cy="4499139"/>
          </a:xfrm>
          <a:prstGeom prst="rect">
            <a:avLst/>
          </a:prstGeom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304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37ADC-7076-C8F7-1EEC-5248092E6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1370-A0E5-DFAA-2330-7C4F27578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Code generating language models</a:t>
            </a:r>
            <a:endParaRPr lang="LID4096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0C414-AB6C-0A7A-9C09-7F13F21997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5566" y="1184015"/>
            <a:ext cx="10644901" cy="656360"/>
          </a:xfrm>
        </p:spPr>
        <p:txBody>
          <a:bodyPr>
            <a:normAutofit/>
          </a:bodyPr>
          <a:lstStyle/>
          <a:p>
            <a:r>
              <a:rPr lang="en-GB" dirty="0"/>
              <a:t>Translating from human language to computer language</a:t>
            </a:r>
            <a:endParaRPr lang="LID4096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4CFC6807-0094-98C5-0CF7-410F82483326}"/>
              </a:ext>
            </a:extLst>
          </p:cNvPr>
          <p:cNvSpPr/>
          <p:nvPr/>
        </p:nvSpPr>
        <p:spPr>
          <a:xfrm>
            <a:off x="524455" y="2009012"/>
            <a:ext cx="2972021" cy="3008613"/>
          </a:xfrm>
          <a:prstGeom prst="wedgeRectCallout">
            <a:avLst>
              <a:gd name="adj1" fmla="val -11286"/>
              <a:gd name="adj2" fmla="val 27851"/>
            </a:avLst>
          </a:prstGeom>
          <a:solidFill>
            <a:schemeClr val="bg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How can I segment nuclei in a fluorescence microscopy image using Python?</a:t>
            </a:r>
            <a:endParaRPr lang="LID4096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4D4A6A-FAA5-9198-FBAE-CE99688D8741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613994" y="2331705"/>
            <a:ext cx="1569155" cy="2360127"/>
            <a:chOff x="7715165" y="1693760"/>
            <a:chExt cx="2554941" cy="384282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EBA995A-94E9-D51F-4783-39A289CE2299}"/>
                </a:ext>
              </a:extLst>
            </p:cNvPr>
            <p:cNvSpPr/>
            <p:nvPr/>
          </p:nvSpPr>
          <p:spPr>
            <a:xfrm rot="5400000">
              <a:off x="9288471" y="1693760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CA77741-C978-8A02-4473-B609ECF25D97}"/>
                </a:ext>
              </a:extLst>
            </p:cNvPr>
            <p:cNvSpPr/>
            <p:nvPr/>
          </p:nvSpPr>
          <p:spPr>
            <a:xfrm rot="5400000">
              <a:off x="8764036" y="1693760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28F2277-2D3D-1B3B-24B9-C5EE33F4A71A}"/>
                </a:ext>
              </a:extLst>
            </p:cNvPr>
            <p:cNvSpPr/>
            <p:nvPr/>
          </p:nvSpPr>
          <p:spPr>
            <a:xfrm rot="5400000">
              <a:off x="8239601" y="1693760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F67D0CB-CECD-E0F5-2ECF-60638DE3EB0F}"/>
                </a:ext>
              </a:extLst>
            </p:cNvPr>
            <p:cNvSpPr/>
            <p:nvPr/>
          </p:nvSpPr>
          <p:spPr>
            <a:xfrm rot="5400000">
              <a:off x="7715166" y="1693760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AC52AD6-F418-481D-FBAB-20D07E309B1B}"/>
                </a:ext>
              </a:extLst>
            </p:cNvPr>
            <p:cNvSpPr/>
            <p:nvPr/>
          </p:nvSpPr>
          <p:spPr>
            <a:xfrm rot="5400000">
              <a:off x="9288471" y="3386572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76847BE-1BB4-8FCE-C8EC-E78FD4BAE96D}"/>
                </a:ext>
              </a:extLst>
            </p:cNvPr>
            <p:cNvSpPr/>
            <p:nvPr/>
          </p:nvSpPr>
          <p:spPr>
            <a:xfrm rot="5400000">
              <a:off x="8764036" y="3386572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6B42F19-09C4-43E3-3439-8B6A33E5BB7E}"/>
                </a:ext>
              </a:extLst>
            </p:cNvPr>
            <p:cNvSpPr/>
            <p:nvPr/>
          </p:nvSpPr>
          <p:spPr>
            <a:xfrm rot="5400000">
              <a:off x="8239601" y="3386572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2BEBD57-6684-4F3A-FEE1-F8F353CB2685}"/>
                </a:ext>
              </a:extLst>
            </p:cNvPr>
            <p:cNvCxnSpPr>
              <a:stCxn id="10" idx="6"/>
              <a:endCxn id="14" idx="2"/>
            </p:cNvCxnSpPr>
            <p:nvPr/>
          </p:nvCxnSpPr>
          <p:spPr>
            <a:xfrm rot="5400000">
              <a:off x="8899265" y="2768766"/>
              <a:ext cx="1235612" cy="0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2AF5DC7-5094-9475-E2EF-C5E3C0AF0F72}"/>
                </a:ext>
              </a:extLst>
            </p:cNvPr>
            <p:cNvCxnSpPr>
              <a:cxnSpLocks/>
              <a:stCxn id="11" idx="6"/>
              <a:endCxn id="14" idx="2"/>
            </p:cNvCxnSpPr>
            <p:nvPr/>
          </p:nvCxnSpPr>
          <p:spPr>
            <a:xfrm rot="5400000" flipV="1">
              <a:off x="8637047" y="2506548"/>
              <a:ext cx="1235612" cy="524435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4D5DB80-560C-BF6F-51F1-582068687BC9}"/>
                </a:ext>
              </a:extLst>
            </p:cNvPr>
            <p:cNvCxnSpPr>
              <a:cxnSpLocks/>
              <a:stCxn id="10" idx="6"/>
              <a:endCxn id="15" idx="2"/>
            </p:cNvCxnSpPr>
            <p:nvPr/>
          </p:nvCxnSpPr>
          <p:spPr>
            <a:xfrm rot="5400000">
              <a:off x="8637047" y="2506548"/>
              <a:ext cx="1235612" cy="524435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81BBEA8-9135-019A-056C-D56CFAC19169}"/>
                </a:ext>
              </a:extLst>
            </p:cNvPr>
            <p:cNvCxnSpPr/>
            <p:nvPr/>
          </p:nvCxnSpPr>
          <p:spPr>
            <a:xfrm rot="5400000">
              <a:off x="8374830" y="2768766"/>
              <a:ext cx="1235612" cy="0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D54284A-286A-1603-E9F0-A79259027B8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112612" y="2506548"/>
              <a:ext cx="1235612" cy="524435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E54279C-0C2F-A0FC-51D0-B412813CF04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12612" y="2506548"/>
              <a:ext cx="1235612" cy="524435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83CA4EE-6E67-4917-1C30-EE4CBBCBCDFE}"/>
                </a:ext>
              </a:extLst>
            </p:cNvPr>
            <p:cNvCxnSpPr/>
            <p:nvPr/>
          </p:nvCxnSpPr>
          <p:spPr>
            <a:xfrm rot="5400000">
              <a:off x="7839120" y="2768766"/>
              <a:ext cx="1235612" cy="0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3E78C17-C27F-3E86-CC3C-9D7CD5B4C00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576902" y="2506548"/>
              <a:ext cx="1235612" cy="524435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75CF149-60EB-7682-C1EC-00AA55C86FF9}"/>
                </a:ext>
              </a:extLst>
            </p:cNvPr>
            <p:cNvCxnSpPr>
              <a:cxnSpLocks/>
              <a:stCxn id="13" idx="6"/>
              <a:endCxn id="15" idx="2"/>
            </p:cNvCxnSpPr>
            <p:nvPr/>
          </p:nvCxnSpPr>
          <p:spPr>
            <a:xfrm>
              <a:off x="7943766" y="2150960"/>
              <a:ext cx="1048870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88CFCDE-A4F4-96C0-0F93-EE6EBC2F5B78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>
              <a:off x="7943766" y="2150960"/>
              <a:ext cx="1573305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EC4DCE4-1E9A-A0E3-38D6-2C5F40ED87F1}"/>
                </a:ext>
              </a:extLst>
            </p:cNvPr>
            <p:cNvCxnSpPr>
              <a:cxnSpLocks/>
              <a:stCxn id="16" idx="2"/>
              <a:endCxn id="10" idx="6"/>
            </p:cNvCxnSpPr>
            <p:nvPr/>
          </p:nvCxnSpPr>
          <p:spPr>
            <a:xfrm flipV="1">
              <a:off x="8468201" y="2150960"/>
              <a:ext cx="1048870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8F43429-400B-3A3A-50DF-1349C27362F2}"/>
                </a:ext>
              </a:extLst>
            </p:cNvPr>
            <p:cNvSpPr/>
            <p:nvPr/>
          </p:nvSpPr>
          <p:spPr>
            <a:xfrm rot="5400000">
              <a:off x="9812906" y="1693760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23D28D9-3C16-A237-EBBB-A89CE8990915}"/>
                </a:ext>
              </a:extLst>
            </p:cNvPr>
            <p:cNvCxnSpPr>
              <a:cxnSpLocks/>
              <a:stCxn id="28" idx="6"/>
              <a:endCxn id="14" idx="2"/>
            </p:cNvCxnSpPr>
            <p:nvPr/>
          </p:nvCxnSpPr>
          <p:spPr>
            <a:xfrm flipH="1">
              <a:off x="9517071" y="2150960"/>
              <a:ext cx="524435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4023E6E-7BB1-9060-C1C1-173D2B40BD82}"/>
                </a:ext>
              </a:extLst>
            </p:cNvPr>
            <p:cNvCxnSpPr>
              <a:cxnSpLocks/>
              <a:stCxn id="28" idx="6"/>
              <a:endCxn id="15" idx="2"/>
            </p:cNvCxnSpPr>
            <p:nvPr/>
          </p:nvCxnSpPr>
          <p:spPr>
            <a:xfrm flipH="1">
              <a:off x="8992636" y="2150960"/>
              <a:ext cx="1048870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7D3F043-2083-CCAA-62B7-A5D76A4DBFDE}"/>
                </a:ext>
              </a:extLst>
            </p:cNvPr>
            <p:cNvCxnSpPr>
              <a:cxnSpLocks/>
              <a:stCxn id="28" idx="6"/>
              <a:endCxn id="16" idx="2"/>
            </p:cNvCxnSpPr>
            <p:nvPr/>
          </p:nvCxnSpPr>
          <p:spPr>
            <a:xfrm flipH="1">
              <a:off x="8468201" y="2150960"/>
              <a:ext cx="1573305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8BF75E3-7493-AEC0-EAF7-DEBCB50502D0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>
              <a:off x="8468201" y="2150960"/>
              <a:ext cx="1048870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A365196-9EC6-4189-2C95-D7B15BE7FE4C}"/>
                </a:ext>
              </a:extLst>
            </p:cNvPr>
            <p:cNvSpPr/>
            <p:nvPr/>
          </p:nvSpPr>
          <p:spPr>
            <a:xfrm rot="16200000">
              <a:off x="8239600" y="5079384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4EDF6A2-34E7-21AA-D448-FCDA55ABF073}"/>
                </a:ext>
              </a:extLst>
            </p:cNvPr>
            <p:cNvSpPr/>
            <p:nvPr/>
          </p:nvSpPr>
          <p:spPr>
            <a:xfrm rot="16200000">
              <a:off x="8764035" y="5079384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45D5226-CF97-8E97-71E7-A53E22A60661}"/>
                </a:ext>
              </a:extLst>
            </p:cNvPr>
            <p:cNvSpPr/>
            <p:nvPr/>
          </p:nvSpPr>
          <p:spPr>
            <a:xfrm rot="16200000">
              <a:off x="9288470" y="5079384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9DBD37F-E8E2-52DA-AF97-C4F025F65362}"/>
                </a:ext>
              </a:extLst>
            </p:cNvPr>
            <p:cNvSpPr/>
            <p:nvPr/>
          </p:nvSpPr>
          <p:spPr>
            <a:xfrm rot="16200000">
              <a:off x="9812905" y="5079384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DBDF038-CB9A-8DEE-738E-AA8424019153}"/>
                </a:ext>
              </a:extLst>
            </p:cNvPr>
            <p:cNvCxnSpPr>
              <a:stCxn id="33" idx="6"/>
            </p:cNvCxnSpPr>
            <p:nvPr/>
          </p:nvCxnSpPr>
          <p:spPr>
            <a:xfrm rot="16200000">
              <a:off x="7850394" y="4461578"/>
              <a:ext cx="1235612" cy="0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8013D1-9EBB-9097-B001-98AF003703F2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 rot="16200000" flipV="1">
              <a:off x="8112612" y="4199361"/>
              <a:ext cx="1235612" cy="524435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B3D555D-9772-5486-F532-35AD85B193D8}"/>
                </a:ext>
              </a:extLst>
            </p:cNvPr>
            <p:cNvCxnSpPr>
              <a:cxnSpLocks/>
              <a:stCxn id="33" idx="6"/>
            </p:cNvCxnSpPr>
            <p:nvPr/>
          </p:nvCxnSpPr>
          <p:spPr>
            <a:xfrm rot="16200000">
              <a:off x="8112612" y="4199361"/>
              <a:ext cx="1235612" cy="524435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EE69D5-2614-F716-867A-538EF26486CA}"/>
                </a:ext>
              </a:extLst>
            </p:cNvPr>
            <p:cNvCxnSpPr/>
            <p:nvPr/>
          </p:nvCxnSpPr>
          <p:spPr>
            <a:xfrm rot="16200000">
              <a:off x="8374829" y="4461578"/>
              <a:ext cx="1235612" cy="0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524B73F-B1DF-926F-4DDC-8E6974B9686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637047" y="4199361"/>
              <a:ext cx="1235612" cy="524435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050809D-FED9-B571-D7DE-555518604A6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637047" y="4199361"/>
              <a:ext cx="1235612" cy="524435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B564212-6509-5F93-E305-4E56D2A94DA1}"/>
                </a:ext>
              </a:extLst>
            </p:cNvPr>
            <p:cNvCxnSpPr/>
            <p:nvPr/>
          </p:nvCxnSpPr>
          <p:spPr>
            <a:xfrm rot="16200000">
              <a:off x="8910539" y="4461578"/>
              <a:ext cx="1235612" cy="0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8CD45E3-F0E0-D146-B71B-1349E6489C9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172757" y="4199361"/>
              <a:ext cx="1235612" cy="524435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D4F360F-6D58-0814-7F59-3CC884A7CEE8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 rot="10800000">
              <a:off x="8992635" y="3843772"/>
              <a:ext cx="1048870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C9E8715-44DE-9B94-9B0E-3FF2E267DF45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 rot="10800000">
              <a:off x="8468200" y="3843772"/>
              <a:ext cx="1573305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8D3DBB0-2A40-1752-2BEE-E29EA010130B}"/>
                </a:ext>
              </a:extLst>
            </p:cNvPr>
            <p:cNvCxnSpPr>
              <a:cxnSpLocks/>
              <a:endCxn id="33" idx="6"/>
            </p:cNvCxnSpPr>
            <p:nvPr/>
          </p:nvCxnSpPr>
          <p:spPr>
            <a:xfrm rot="10800000" flipV="1">
              <a:off x="8468200" y="3843772"/>
              <a:ext cx="1048870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5CD21BD-A844-4D0C-14A2-3AA5E4C10D27}"/>
                </a:ext>
              </a:extLst>
            </p:cNvPr>
            <p:cNvSpPr/>
            <p:nvPr/>
          </p:nvSpPr>
          <p:spPr>
            <a:xfrm rot="16200000">
              <a:off x="7715165" y="5079384"/>
              <a:ext cx="457200" cy="457200"/>
            </a:xfrm>
            <a:prstGeom prst="ellips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0EC899A-D81F-0F57-F0FB-6A1640F7A2CF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0800000" flipH="1">
              <a:off x="7943765" y="3843772"/>
              <a:ext cx="524435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90DE3A4-C49F-16A9-7380-383AC90CAFEF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0800000" flipH="1">
              <a:off x="7943765" y="3843772"/>
              <a:ext cx="1048870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8590081-C8F5-0233-C76A-288C0AAE031B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0800000" flipH="1">
              <a:off x="7943765" y="3843772"/>
              <a:ext cx="1573305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A421F45-31E4-CCB0-46AA-2E9866F3B093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 rot="10800000">
              <a:off x="8468200" y="3843772"/>
              <a:ext cx="1048870" cy="1235612"/>
            </a:xfrm>
            <a:prstGeom prst="line">
              <a:avLst/>
            </a:prstGeom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B08803CD-7BA6-233E-7467-1BDF0395AAB7}"/>
              </a:ext>
            </a:extLst>
          </p:cNvPr>
          <p:cNvCxnSpPr>
            <a:cxnSpLocks/>
            <a:stCxn id="7" idx="3"/>
            <a:endCxn id="11" idx="2"/>
          </p:cNvCxnSpPr>
          <p:nvPr/>
        </p:nvCxnSpPr>
        <p:spPr>
          <a:xfrm flipV="1">
            <a:off x="3496476" y="3511768"/>
            <a:ext cx="722032" cy="1551"/>
          </a:xfrm>
          <a:prstGeom prst="bentConnector3">
            <a:avLst/>
          </a:prstGeom>
          <a:ln w="444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BE86FCDC-019A-670D-D8E0-B78B26A9D4CF}"/>
              </a:ext>
            </a:extLst>
          </p:cNvPr>
          <p:cNvCxnSpPr>
            <a:cxnSpLocks/>
            <a:stCxn id="34" idx="2"/>
            <a:endCxn id="71" idx="1"/>
          </p:cNvCxnSpPr>
          <p:nvPr/>
        </p:nvCxnSpPr>
        <p:spPr>
          <a:xfrm>
            <a:off x="6578635" y="3511769"/>
            <a:ext cx="630685" cy="1550"/>
          </a:xfrm>
          <a:prstGeom prst="bentConnector3">
            <a:avLst>
              <a:gd name="adj1" fmla="val 50000"/>
            </a:avLst>
          </a:prstGeom>
          <a:ln w="444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Speech Bubble: Rectangle 70">
            <a:extLst>
              <a:ext uri="{FF2B5EF4-FFF2-40B4-BE49-F238E27FC236}">
                <a16:creationId xmlns:a16="http://schemas.microsoft.com/office/drawing/2014/main" id="{E5FD0233-8172-6BDD-ABBD-9243D339D891}"/>
              </a:ext>
            </a:extLst>
          </p:cNvPr>
          <p:cNvSpPr/>
          <p:nvPr/>
        </p:nvSpPr>
        <p:spPr>
          <a:xfrm>
            <a:off x="7209320" y="2009012"/>
            <a:ext cx="4889636" cy="3008613"/>
          </a:xfrm>
          <a:prstGeom prst="wedgeRectCallout">
            <a:avLst>
              <a:gd name="adj1" fmla="val -8471"/>
              <a:gd name="adj2" fmla="val 25506"/>
            </a:avLst>
          </a:prstGeom>
          <a:solidFill>
            <a:schemeClr val="bg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skimage.io import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endParaRPr lang="en-GB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skimage.filters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threshold_otsu</a:t>
            </a:r>
            <a:endParaRPr lang="en-GB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load image</a:t>
            </a:r>
          </a:p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 =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your_image.tif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‘)</a:t>
            </a:r>
          </a:p>
          <a:p>
            <a:endParaRPr lang="en-GB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segment image</a:t>
            </a:r>
          </a:p>
          <a:p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binary_image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image &gt; 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threshold_otsu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(image) </a:t>
            </a:r>
          </a:p>
          <a:p>
            <a:endParaRPr lang="en-GB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show result</a:t>
            </a:r>
          </a:p>
          <a:p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binary_image</a:t>
            </a:r>
            <a:r>
              <a:rPr lang="en-GB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LID4096" sz="1400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308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A318C-816E-409F-519A-E69BED4C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F8D5-E16E-1E46-F6BD-409034BA1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Code generating language models</a:t>
            </a:r>
            <a:endParaRPr lang="LID4096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D6C1D-7ABB-FEEB-52A7-022A1434C0F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5566" y="1184015"/>
            <a:ext cx="10644901" cy="65636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Translating from human language to computer language</a:t>
            </a:r>
            <a:endParaRPr lang="LID4096" dirty="0">
              <a:solidFill>
                <a:schemeClr val="bg1"/>
              </a:solidFill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BB641973-0320-F57E-F498-47C51ABD6088}"/>
              </a:ext>
            </a:extLst>
          </p:cNvPr>
          <p:cNvSpPr/>
          <p:nvPr/>
        </p:nvSpPr>
        <p:spPr>
          <a:xfrm>
            <a:off x="524455" y="2009012"/>
            <a:ext cx="2972021" cy="3008613"/>
          </a:xfrm>
          <a:prstGeom prst="wedgeRectCallout">
            <a:avLst>
              <a:gd name="adj1" fmla="val -11286"/>
              <a:gd name="adj2" fmla="val 27851"/>
            </a:avLst>
          </a:prstGeom>
          <a:solidFill>
            <a:schemeClr val="tx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How can I segment nuclei in a fluorescence microscopy image using Python?</a:t>
            </a:r>
            <a:endParaRPr lang="LID4096" sz="2400" dirty="0">
              <a:solidFill>
                <a:schemeClr val="bg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8557CF-6509-EBA2-F5DB-E25395ADF2BB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4613994" y="2331705"/>
            <a:ext cx="1569155" cy="2360127"/>
            <a:chOff x="7715165" y="1693760"/>
            <a:chExt cx="2554941" cy="384282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9D2FAC1-46A0-A9A8-86A0-8D6223C2E6C3}"/>
                </a:ext>
              </a:extLst>
            </p:cNvPr>
            <p:cNvSpPr/>
            <p:nvPr/>
          </p:nvSpPr>
          <p:spPr>
            <a:xfrm rot="5400000">
              <a:off x="9288471" y="1693760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B991E-C717-B9B5-B8E9-9D6476AE3F3B}"/>
                </a:ext>
              </a:extLst>
            </p:cNvPr>
            <p:cNvSpPr/>
            <p:nvPr/>
          </p:nvSpPr>
          <p:spPr>
            <a:xfrm rot="5400000">
              <a:off x="8764036" y="1693760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30ACDD7-46E6-18D2-A8A4-CF4AD3327891}"/>
                </a:ext>
              </a:extLst>
            </p:cNvPr>
            <p:cNvSpPr/>
            <p:nvPr/>
          </p:nvSpPr>
          <p:spPr>
            <a:xfrm rot="5400000">
              <a:off x="8239601" y="1693760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B7AFD9B-3E54-9CBA-3AB9-6A79C05398F2}"/>
                </a:ext>
              </a:extLst>
            </p:cNvPr>
            <p:cNvSpPr/>
            <p:nvPr/>
          </p:nvSpPr>
          <p:spPr>
            <a:xfrm rot="5400000">
              <a:off x="7715166" y="1693760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D7BD196-0693-F997-79E1-DC5A94946222}"/>
                </a:ext>
              </a:extLst>
            </p:cNvPr>
            <p:cNvSpPr/>
            <p:nvPr/>
          </p:nvSpPr>
          <p:spPr>
            <a:xfrm rot="5400000">
              <a:off x="9288471" y="3386572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1B7295D-C5CE-13CF-68C8-F4537B6990E4}"/>
                </a:ext>
              </a:extLst>
            </p:cNvPr>
            <p:cNvSpPr/>
            <p:nvPr/>
          </p:nvSpPr>
          <p:spPr>
            <a:xfrm rot="5400000">
              <a:off x="8764036" y="3386572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6DEA386-90FE-B5E9-3E6D-90BE758D5DD5}"/>
                </a:ext>
              </a:extLst>
            </p:cNvPr>
            <p:cNvSpPr/>
            <p:nvPr/>
          </p:nvSpPr>
          <p:spPr>
            <a:xfrm rot="5400000">
              <a:off x="8239601" y="3386572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FAD38DB-B4A5-ED17-8D6A-3ECF95523BEE}"/>
                </a:ext>
              </a:extLst>
            </p:cNvPr>
            <p:cNvCxnSpPr>
              <a:stCxn id="10" idx="6"/>
              <a:endCxn id="14" idx="2"/>
            </p:cNvCxnSpPr>
            <p:nvPr/>
          </p:nvCxnSpPr>
          <p:spPr>
            <a:xfrm rot="5400000">
              <a:off x="8899265" y="2768766"/>
              <a:ext cx="123561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D8C9656-2375-FF9C-0805-9C8D4A6C5AB7}"/>
                </a:ext>
              </a:extLst>
            </p:cNvPr>
            <p:cNvCxnSpPr>
              <a:cxnSpLocks/>
              <a:stCxn id="11" idx="6"/>
              <a:endCxn id="14" idx="2"/>
            </p:cNvCxnSpPr>
            <p:nvPr/>
          </p:nvCxnSpPr>
          <p:spPr>
            <a:xfrm rot="5400000" flipV="1">
              <a:off x="8637047" y="2506548"/>
              <a:ext cx="1235612" cy="524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3B54BD-890D-FBB2-E92D-6BAF6AA2A8A1}"/>
                </a:ext>
              </a:extLst>
            </p:cNvPr>
            <p:cNvCxnSpPr>
              <a:cxnSpLocks/>
              <a:stCxn id="10" idx="6"/>
              <a:endCxn id="15" idx="2"/>
            </p:cNvCxnSpPr>
            <p:nvPr/>
          </p:nvCxnSpPr>
          <p:spPr>
            <a:xfrm rot="5400000">
              <a:off x="8637047" y="2506548"/>
              <a:ext cx="1235612" cy="524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C564A1-0B23-230E-72D1-D719BDBA62C3}"/>
                </a:ext>
              </a:extLst>
            </p:cNvPr>
            <p:cNvCxnSpPr/>
            <p:nvPr/>
          </p:nvCxnSpPr>
          <p:spPr>
            <a:xfrm rot="5400000">
              <a:off x="8374830" y="2768766"/>
              <a:ext cx="123561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BB534F9-3EA1-2DBA-378A-0C1C5D35BF7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112612" y="2506548"/>
              <a:ext cx="1235612" cy="524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2AC518C-A509-1EEB-2179-69539B698D9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12612" y="2506548"/>
              <a:ext cx="1235612" cy="524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C00DA2F-79A9-B867-038F-EA578DFD3760}"/>
                </a:ext>
              </a:extLst>
            </p:cNvPr>
            <p:cNvCxnSpPr/>
            <p:nvPr/>
          </p:nvCxnSpPr>
          <p:spPr>
            <a:xfrm rot="5400000">
              <a:off x="7839120" y="2768766"/>
              <a:ext cx="123561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D8D778E-4C62-10B8-68C0-FE6E8A8C8DC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576902" y="2506548"/>
              <a:ext cx="1235612" cy="524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BAACDDA-653A-2C86-4ED7-2DA30AF15E8B}"/>
                </a:ext>
              </a:extLst>
            </p:cNvPr>
            <p:cNvCxnSpPr>
              <a:cxnSpLocks/>
              <a:stCxn id="13" idx="6"/>
              <a:endCxn id="15" idx="2"/>
            </p:cNvCxnSpPr>
            <p:nvPr/>
          </p:nvCxnSpPr>
          <p:spPr>
            <a:xfrm>
              <a:off x="7943766" y="2150960"/>
              <a:ext cx="1048870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68A851A-8CFB-7BAF-0503-FD907F422396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>
              <a:off x="7943766" y="2150960"/>
              <a:ext cx="1573305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01CC518-9545-29E7-9C1D-3D82E81484F2}"/>
                </a:ext>
              </a:extLst>
            </p:cNvPr>
            <p:cNvCxnSpPr>
              <a:cxnSpLocks/>
              <a:stCxn id="16" idx="2"/>
              <a:endCxn id="10" idx="6"/>
            </p:cNvCxnSpPr>
            <p:nvPr/>
          </p:nvCxnSpPr>
          <p:spPr>
            <a:xfrm flipV="1">
              <a:off x="8468201" y="2150960"/>
              <a:ext cx="1048870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CFB5422-ABA2-560D-D155-9E21DADE7E96}"/>
                </a:ext>
              </a:extLst>
            </p:cNvPr>
            <p:cNvSpPr/>
            <p:nvPr/>
          </p:nvSpPr>
          <p:spPr>
            <a:xfrm rot="5400000">
              <a:off x="9812906" y="1693760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81DE840-1B1F-B485-6159-7C7C97BA65B0}"/>
                </a:ext>
              </a:extLst>
            </p:cNvPr>
            <p:cNvCxnSpPr>
              <a:cxnSpLocks/>
              <a:stCxn id="28" idx="6"/>
              <a:endCxn id="14" idx="2"/>
            </p:cNvCxnSpPr>
            <p:nvPr/>
          </p:nvCxnSpPr>
          <p:spPr>
            <a:xfrm flipH="1">
              <a:off x="9517071" y="2150960"/>
              <a:ext cx="524435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7C694A4-C5F5-DBE1-1A9A-8CDE47EE6762}"/>
                </a:ext>
              </a:extLst>
            </p:cNvPr>
            <p:cNvCxnSpPr>
              <a:cxnSpLocks/>
              <a:stCxn id="28" idx="6"/>
              <a:endCxn id="15" idx="2"/>
            </p:cNvCxnSpPr>
            <p:nvPr/>
          </p:nvCxnSpPr>
          <p:spPr>
            <a:xfrm flipH="1">
              <a:off x="8992636" y="2150960"/>
              <a:ext cx="1048870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9E413A4-7179-D142-FEA1-3D5393A0833A}"/>
                </a:ext>
              </a:extLst>
            </p:cNvPr>
            <p:cNvCxnSpPr>
              <a:cxnSpLocks/>
              <a:stCxn id="28" idx="6"/>
              <a:endCxn id="16" idx="2"/>
            </p:cNvCxnSpPr>
            <p:nvPr/>
          </p:nvCxnSpPr>
          <p:spPr>
            <a:xfrm flipH="1">
              <a:off x="8468201" y="2150960"/>
              <a:ext cx="1573305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3A26017-0802-3EBA-9A41-9D07F8D4C243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>
              <a:off x="8468201" y="2150960"/>
              <a:ext cx="1048870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5952BA9-4629-BA7B-0EB1-BC0E9F075B02}"/>
                </a:ext>
              </a:extLst>
            </p:cNvPr>
            <p:cNvSpPr/>
            <p:nvPr/>
          </p:nvSpPr>
          <p:spPr>
            <a:xfrm rot="16200000">
              <a:off x="8239600" y="5079384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842BF46-9427-39B0-87AE-4CC42B74B9E3}"/>
                </a:ext>
              </a:extLst>
            </p:cNvPr>
            <p:cNvSpPr/>
            <p:nvPr/>
          </p:nvSpPr>
          <p:spPr>
            <a:xfrm rot="16200000">
              <a:off x="8764035" y="5079384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6175851-1C41-C4FF-4C13-5054E1AC6504}"/>
                </a:ext>
              </a:extLst>
            </p:cNvPr>
            <p:cNvSpPr/>
            <p:nvPr/>
          </p:nvSpPr>
          <p:spPr>
            <a:xfrm rot="16200000">
              <a:off x="9288470" y="5079384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577805B-A01F-AE46-383B-8FA5F531C80B}"/>
                </a:ext>
              </a:extLst>
            </p:cNvPr>
            <p:cNvSpPr/>
            <p:nvPr/>
          </p:nvSpPr>
          <p:spPr>
            <a:xfrm rot="16200000">
              <a:off x="9812905" y="5079384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9BAB8FA-EA70-031E-BA0D-B924D7D26F06}"/>
                </a:ext>
              </a:extLst>
            </p:cNvPr>
            <p:cNvCxnSpPr>
              <a:stCxn id="33" idx="6"/>
            </p:cNvCxnSpPr>
            <p:nvPr/>
          </p:nvCxnSpPr>
          <p:spPr>
            <a:xfrm rot="16200000">
              <a:off x="7850394" y="4461578"/>
              <a:ext cx="123561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CF063F8-F580-836F-1632-41D5F8A16A91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 rot="16200000" flipV="1">
              <a:off x="8112612" y="4199361"/>
              <a:ext cx="1235612" cy="524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219FE68-BE5B-687B-6634-1CEE53FC01ED}"/>
                </a:ext>
              </a:extLst>
            </p:cNvPr>
            <p:cNvCxnSpPr>
              <a:cxnSpLocks/>
              <a:stCxn id="33" idx="6"/>
            </p:cNvCxnSpPr>
            <p:nvPr/>
          </p:nvCxnSpPr>
          <p:spPr>
            <a:xfrm rot="16200000">
              <a:off x="8112612" y="4199361"/>
              <a:ext cx="1235612" cy="524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539191B-AF1B-AF5B-875F-AAB1A904A80E}"/>
                </a:ext>
              </a:extLst>
            </p:cNvPr>
            <p:cNvCxnSpPr/>
            <p:nvPr/>
          </p:nvCxnSpPr>
          <p:spPr>
            <a:xfrm rot="16200000">
              <a:off x="8374829" y="4461578"/>
              <a:ext cx="123561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511A996-C0A8-C2BB-179B-ECEB1F13171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637047" y="4199361"/>
              <a:ext cx="1235612" cy="524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FE39A7-931D-AF91-3543-4C4DA2ACEAB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637047" y="4199361"/>
              <a:ext cx="1235612" cy="524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AE25D23-B459-541F-1404-3ABB1BE78EC6}"/>
                </a:ext>
              </a:extLst>
            </p:cNvPr>
            <p:cNvCxnSpPr/>
            <p:nvPr/>
          </p:nvCxnSpPr>
          <p:spPr>
            <a:xfrm rot="16200000">
              <a:off x="8910539" y="4461578"/>
              <a:ext cx="123561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C5146B3-E49D-0163-2245-8CE14BCF01C5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172757" y="4199361"/>
              <a:ext cx="1235612" cy="524435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0477FA3-5D97-CD00-275D-893068DB6E40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 rot="10800000">
              <a:off x="8992635" y="3843772"/>
              <a:ext cx="1048870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4F04970-491B-B8F8-6A0F-3CC0A72C97E3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 rot="10800000">
              <a:off x="8468200" y="3843772"/>
              <a:ext cx="1573305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671C865-647C-2B30-C3BF-8C98FC3A4351}"/>
                </a:ext>
              </a:extLst>
            </p:cNvPr>
            <p:cNvCxnSpPr>
              <a:cxnSpLocks/>
              <a:endCxn id="33" idx="6"/>
            </p:cNvCxnSpPr>
            <p:nvPr/>
          </p:nvCxnSpPr>
          <p:spPr>
            <a:xfrm rot="10800000" flipV="1">
              <a:off x="8468200" y="3843772"/>
              <a:ext cx="1048870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05CE07E-8DA7-B319-AF68-ACDF9ED19F8A}"/>
                </a:ext>
              </a:extLst>
            </p:cNvPr>
            <p:cNvSpPr/>
            <p:nvPr/>
          </p:nvSpPr>
          <p:spPr>
            <a:xfrm rot="16200000">
              <a:off x="7715165" y="5079384"/>
              <a:ext cx="457200" cy="45720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9E416EC-7ACB-D7C0-42F8-FFD5D787AD8B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0800000" flipH="1">
              <a:off x="7943765" y="3843772"/>
              <a:ext cx="524435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CAC6135-77BB-2467-CC0C-69FDE2EB3731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0800000" flipH="1">
              <a:off x="7943765" y="3843772"/>
              <a:ext cx="1048870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71EDC07-CEDE-A268-904B-562D66AE15F9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0800000" flipH="1">
              <a:off x="7943765" y="3843772"/>
              <a:ext cx="1573305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75916B6-DA75-C15F-45DC-9D04E0D3923B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 rot="10800000">
              <a:off x="8468200" y="3843772"/>
              <a:ext cx="1048870" cy="1235612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CAA59F92-5E7C-A43F-1C91-B0FCEBD9C0EE}"/>
              </a:ext>
            </a:extLst>
          </p:cNvPr>
          <p:cNvCxnSpPr>
            <a:cxnSpLocks/>
            <a:stCxn id="7" idx="3"/>
            <a:endCxn id="11" idx="2"/>
          </p:cNvCxnSpPr>
          <p:nvPr/>
        </p:nvCxnSpPr>
        <p:spPr>
          <a:xfrm flipV="1">
            <a:off x="3496476" y="3511768"/>
            <a:ext cx="722032" cy="1551"/>
          </a:xfrm>
          <a:prstGeom prst="bentConnector3">
            <a:avLst/>
          </a:prstGeom>
          <a:ln w="444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DC0F5DD0-4375-3614-781A-93EE691B62CE}"/>
              </a:ext>
            </a:extLst>
          </p:cNvPr>
          <p:cNvCxnSpPr>
            <a:cxnSpLocks/>
            <a:stCxn id="34" idx="2"/>
            <a:endCxn id="71" idx="1"/>
          </p:cNvCxnSpPr>
          <p:nvPr/>
        </p:nvCxnSpPr>
        <p:spPr>
          <a:xfrm>
            <a:off x="6578635" y="3511769"/>
            <a:ext cx="630685" cy="1550"/>
          </a:xfrm>
          <a:prstGeom prst="bentConnector3">
            <a:avLst>
              <a:gd name="adj1" fmla="val 50000"/>
            </a:avLst>
          </a:prstGeom>
          <a:ln w="444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Speech Bubble: Rectangle 70">
            <a:extLst>
              <a:ext uri="{FF2B5EF4-FFF2-40B4-BE49-F238E27FC236}">
                <a16:creationId xmlns:a16="http://schemas.microsoft.com/office/drawing/2014/main" id="{F379DB8C-17E4-49D0-4B72-84D469237B56}"/>
              </a:ext>
            </a:extLst>
          </p:cNvPr>
          <p:cNvSpPr/>
          <p:nvPr/>
        </p:nvSpPr>
        <p:spPr>
          <a:xfrm>
            <a:off x="7209320" y="2009012"/>
            <a:ext cx="4889636" cy="3008613"/>
          </a:xfrm>
          <a:prstGeom prst="wedgeRectCallout">
            <a:avLst>
              <a:gd name="adj1" fmla="val -8471"/>
              <a:gd name="adj2" fmla="val 25506"/>
            </a:avLst>
          </a:prstGeom>
          <a:solidFill>
            <a:schemeClr val="tx1"/>
          </a:soli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skimage.io import </a:t>
            </a:r>
            <a:r>
              <a:rPr lang="en-GB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endParaRPr lang="en-GB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skimage.filters</a:t>
            </a:r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GB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threshold_otsu</a:t>
            </a:r>
            <a:endParaRPr lang="en-GB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load image</a:t>
            </a:r>
          </a:p>
          <a:p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 = </a:t>
            </a:r>
            <a:r>
              <a:rPr lang="en-GB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</a:t>
            </a:r>
            <a:r>
              <a:rPr lang="en-GB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your_image.tif</a:t>
            </a:r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‘)</a:t>
            </a:r>
          </a:p>
          <a:p>
            <a:endParaRPr lang="en-GB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segment image</a:t>
            </a:r>
          </a:p>
          <a:p>
            <a:r>
              <a:rPr lang="en-GB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binary_image</a:t>
            </a:r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image &gt; </a:t>
            </a:r>
            <a:r>
              <a:rPr lang="en-GB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threshold_otsu</a:t>
            </a:r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(image) </a:t>
            </a:r>
          </a:p>
          <a:p>
            <a:endParaRPr lang="en-GB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show result</a:t>
            </a:r>
          </a:p>
          <a:p>
            <a:r>
              <a:rPr lang="en-GB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imshow</a:t>
            </a:r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binary_image</a:t>
            </a:r>
            <a:r>
              <a:rPr lang="en-GB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LID4096"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03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31DC-D080-7187-FA72-9B70039C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20" y="340649"/>
            <a:ext cx="10509685" cy="757619"/>
          </a:xfrm>
        </p:spPr>
        <p:txBody>
          <a:bodyPr/>
          <a:lstStyle/>
          <a:p>
            <a:r>
              <a:rPr lang="en-US" dirty="0"/>
              <a:t>Summary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9C511-383C-4A8A-B342-6B467B302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20" y="1435260"/>
            <a:ext cx="8002480" cy="466073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Using AI / LLMs for [bioimage] data analysis code generation seems increasingly </a:t>
            </a:r>
            <a:r>
              <a:rPr lang="en-US" sz="2400" i="1" dirty="0"/>
              <a:t>unavoidable</a:t>
            </a:r>
          </a:p>
          <a:p>
            <a:r>
              <a:rPr lang="en-US" sz="2400" dirty="0"/>
              <a:t>Maintaining good scientific practice is challenging (esp. peer-review)</a:t>
            </a:r>
          </a:p>
          <a:p>
            <a:pPr lvl="1"/>
            <a:r>
              <a:rPr lang="en-US" sz="2400" dirty="0"/>
              <a:t>Compare LLMs / service providers</a:t>
            </a:r>
          </a:p>
          <a:p>
            <a:pPr lvl="1"/>
            <a:r>
              <a:rPr lang="en-US" sz="2400" dirty="0"/>
              <a:t>Learn how to use AI </a:t>
            </a:r>
            <a:r>
              <a:rPr lang="en-US" sz="2400" i="1" dirty="0"/>
              <a:t>responsibly</a:t>
            </a:r>
          </a:p>
          <a:p>
            <a:pPr lvl="1"/>
            <a:r>
              <a:rPr lang="en-US" sz="2400" dirty="0"/>
              <a:t>Explore multiple solutions</a:t>
            </a:r>
          </a:p>
          <a:p>
            <a:pPr lvl="1"/>
            <a:r>
              <a:rPr lang="en-US" sz="2400" dirty="0"/>
              <a:t>Apply good scientific practice </a:t>
            </a:r>
            <a:br>
              <a:rPr lang="en-US" sz="2400" dirty="0"/>
            </a:br>
            <a:r>
              <a:rPr lang="en-US" sz="2400" dirty="0"/>
              <a:t>(question methods!)</a:t>
            </a:r>
          </a:p>
          <a:p>
            <a:pPr lvl="1"/>
            <a:r>
              <a:rPr lang="en-US" sz="2400" dirty="0"/>
              <a:t>Use sovereign infrastructure </a:t>
            </a:r>
          </a:p>
          <a:p>
            <a:pPr lvl="1"/>
            <a:r>
              <a:rPr lang="en-US" sz="2400" dirty="0"/>
              <a:t>Use resources wisely!</a:t>
            </a:r>
          </a:p>
          <a:p>
            <a:r>
              <a:rPr lang="en-US" sz="2400" dirty="0"/>
              <a:t>We may be on the edge towards AI-agents analyzing image data autonomously.</a:t>
            </a:r>
            <a:endParaRPr lang="LID4096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96D90-D34A-1AD9-40D9-1B1019C51BC3}"/>
              </a:ext>
            </a:extLst>
          </p:cNvPr>
          <p:cNvSpPr txBox="1"/>
          <p:nvPr/>
        </p:nvSpPr>
        <p:spPr>
          <a:xfrm>
            <a:off x="8867720" y="5757743"/>
            <a:ext cx="3290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2"/>
              </a:rPr>
              <a:t>https://doi.org/10.5281/zenodo.20527125</a:t>
            </a:r>
            <a:r>
              <a:rPr lang="en-US" sz="1400" dirty="0"/>
              <a:t> </a:t>
            </a:r>
            <a:endParaRPr lang="LID4096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BF6F8C-390A-FCE4-9BFD-63151229F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297" y="2665979"/>
            <a:ext cx="3139057" cy="315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18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D6C79-4A07-179C-9E51-629D9F7B5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20" y="365125"/>
            <a:ext cx="10197039" cy="757619"/>
          </a:xfrm>
        </p:spPr>
        <p:txBody>
          <a:bodyPr>
            <a:normAutofit/>
          </a:bodyPr>
          <a:lstStyle/>
          <a:p>
            <a:r>
              <a:rPr lang="en-GB" dirty="0"/>
              <a:t>Bio-Image Analysis Communities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5B9AC-2F5D-4E2D-9BC7-9A9ADD063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20" y="1435261"/>
            <a:ext cx="10024320" cy="1795223"/>
          </a:xfrm>
        </p:spPr>
        <p:txBody>
          <a:bodyPr>
            <a:normAutofit/>
          </a:bodyPr>
          <a:lstStyle/>
          <a:p>
            <a:r>
              <a:rPr lang="en-GB" dirty="0"/>
              <a:t>Image/data analysis + data management support</a:t>
            </a:r>
          </a:p>
          <a:p>
            <a:r>
              <a:rPr lang="en-GB" dirty="0"/>
              <a:t>Use networking opportunities</a:t>
            </a:r>
          </a:p>
          <a:p>
            <a:r>
              <a:rPr lang="en-GB" dirty="0"/>
              <a:t>Receive trainings</a:t>
            </a:r>
          </a:p>
          <a:p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8BB99-F0CD-D454-C026-9131C8120E50}"/>
              </a:ext>
            </a:extLst>
          </p:cNvPr>
          <p:cNvSpPr txBox="1"/>
          <p:nvPr/>
        </p:nvSpPr>
        <p:spPr>
          <a:xfrm>
            <a:off x="8437817" y="5309215"/>
            <a:ext cx="2636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hlinkClick r:id="rId2"/>
              </a:rPr>
              <a:t>https://nfdi4bioimage.de/help-desk/</a:t>
            </a:r>
            <a:r>
              <a:rPr lang="en-GB" dirty="0"/>
              <a:t> 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052156-25BB-C926-98FD-6324FF160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730" y="3401120"/>
            <a:ext cx="2376695" cy="798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36BE89-F0DF-1BD7-CBE8-D58F90962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20" y="3627516"/>
            <a:ext cx="3358610" cy="10908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C58854-FF6B-8E54-EA03-77AB2A008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7107" y="3310295"/>
            <a:ext cx="2597359" cy="19800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59D2C5-CBF1-4011-F96C-4B10C948FAC9}"/>
              </a:ext>
            </a:extLst>
          </p:cNvPr>
          <p:cNvSpPr txBox="1"/>
          <p:nvPr/>
        </p:nvSpPr>
        <p:spPr>
          <a:xfrm>
            <a:off x="4402279" y="5317767"/>
            <a:ext cx="3835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hlinkClick r:id="rId6"/>
              </a:rPr>
              <a:t>https://www.globias.org/about-globias/globias-association</a:t>
            </a:r>
            <a:r>
              <a:rPr lang="en-GB" dirty="0"/>
              <a:t> </a:t>
            </a:r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8716D4-ACF5-5445-A677-C21C00A7D538}"/>
              </a:ext>
            </a:extLst>
          </p:cNvPr>
          <p:cNvSpPr txBox="1"/>
          <p:nvPr/>
        </p:nvSpPr>
        <p:spPr>
          <a:xfrm>
            <a:off x="606538" y="5309215"/>
            <a:ext cx="1984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hlinkClick r:id="rId7"/>
              </a:rPr>
              <a:t>https://image.sc/</a:t>
            </a:r>
            <a:r>
              <a:rPr lang="en-GB" dirty="0"/>
              <a:t> </a:t>
            </a:r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F5E2FC-7ADF-CC2D-8884-FCF0626A0177}"/>
              </a:ext>
            </a:extLst>
          </p:cNvPr>
          <p:cNvSpPr txBox="1"/>
          <p:nvPr/>
        </p:nvSpPr>
        <p:spPr>
          <a:xfrm>
            <a:off x="277920" y="4617542"/>
            <a:ext cx="398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Image Science Community Forum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B57E7D-E44D-5EE9-04DC-662568452D48}"/>
              </a:ext>
            </a:extLst>
          </p:cNvPr>
          <p:cNvSpPr txBox="1"/>
          <p:nvPr/>
        </p:nvSpPr>
        <p:spPr>
          <a:xfrm>
            <a:off x="8467556" y="4431212"/>
            <a:ext cx="2931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National Infrastructure for Research Data Management in BioImaging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6253056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6555</TotalTime>
  <Words>395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Helvetica Neue</vt:lpstr>
      <vt:lpstr>Open Sans</vt:lpstr>
      <vt:lpstr>Open Sans ExtraBold</vt:lpstr>
      <vt:lpstr>Custom Design</vt:lpstr>
      <vt:lpstr>How Generative AI impacts [BioImage] Data Science</vt:lpstr>
      <vt:lpstr>Quiz: Dealing with AI</vt:lpstr>
      <vt:lpstr>Bio-Image Analysis</vt:lpstr>
      <vt:lpstr>Bio-Image Analysis</vt:lpstr>
      <vt:lpstr>Code generating language models</vt:lpstr>
      <vt:lpstr>Code generating language models</vt:lpstr>
      <vt:lpstr>Summary</vt:lpstr>
      <vt:lpstr>Bio-Image Analysis Communities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Thomas Burghardt</dc:creator>
  <dc:description/>
  <cp:lastModifiedBy>Robert Haase</cp:lastModifiedBy>
  <cp:revision>171</cp:revision>
  <dcterms:modified xsi:type="dcterms:W3CDTF">2026-06-05T12:31:30Z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0x0101003BEE476C9DF2F248B265B4A3C7AC3448</vt:lpwstr>
  </property>
  <property fmtid="{D5CDD505-2E9C-101B-9397-08002B2CF9AE}" pid="3" name="PresentationFormat">
    <vt:lpwstr>Breitbild</vt:lpwstr>
  </property>
  <property fmtid="{D5CDD505-2E9C-101B-9397-08002B2CF9AE}" pid="4" name="Slides">
    <vt:i4>3</vt:i4>
  </property>
  <property fmtid="{D5CDD505-2E9C-101B-9397-08002B2CF9AE}" pid="5" name="_dlc_DocIdItemGuid">
    <vt:lpwstr>72f4eced-47dd-49c0-bdfa-f3d2425fc663</vt:lpwstr>
  </property>
</Properties>
</file>